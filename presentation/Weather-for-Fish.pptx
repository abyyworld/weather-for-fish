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Deadpan. Let the tagline land. Then: "We built a weather app. For fish." Invite the room to scan the QR code and follow along on their own phones.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Humans ask one question: will it rain. Fish do not care. They are already wet. A fish has five questions, and no app answers any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clip (click it), or switch to the live site. Beats: the anchor reads the news, the radar sweeps, a heron explains itself, trout becomes clownfish, solunar tables, the Shipping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chemistry: the textbook saturation formula, then an hourly oxygen budget. Algae make oxygen in sunlight, everything respires faster when warm, wind stirs it back in. The pre-dawn crash falls out of the maths.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Predators are looked up on iNaturalist by scientific name, then one query for everything seen near you this month. Threat = danger × proximity × recency. Fifty photos of one gull colony is fifty tourists, so repeats count for 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weather app that forecasts other people’s beliefs about the weather. When it says Hook o’clock, stay under your rock.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to me: full-screen broadcast, mouth moves with each word, subtitles follow the voice. The most important journalism of our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Deadpan. A real 1926 angling theory, still printed in fishing magazines. Moon altitude sampled every ten minutes, refined by golden-section search, checked against SunCalc in the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in your calmest BBC voice. The app plays the six Greenwich pips first. Format is exact: wind, sea state, weather, visibility. Then predators and humans.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CS judges: the science is pure functions in one file, tested with node:test, including the timezone parser under four TZ settings. A Playwright test drives the whole app from file:// and knocks out each API in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line land. Click, say "Blub." and walk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abyyworld.github.io/weather-for-fish/" TargetMode="External"/><Relationship Id="rId5" Type="http://schemas.openxmlformats.org/officeDocument/2006/relationships/hyperlink" Target="https://abyyworld.github.io/weather-for-fish/" TargetMode="External"/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byyworld.github.io/weather-for-fish/" TargetMode="External"/><Relationship Id="rId2" Type="http://schemas.openxmlformats.org/officeDocument/2006/relationships/hyperlink" Target="https://github.com/abyyworld/weather-for-fish" TargetMode="External"/><Relationship Id="rId3" Type="http://schemas.openxmlformats.org/officeDocument/2006/relationships/video" Target="../media/media-3-1.mp4"/><Relationship Id="rId4" Type="http://schemas.microsoft.com/office/2007/relationships/media" Target="../media/media-3-1.mp4"/><Relationship Id="rId5" Type="http://schemas.openxmlformats.org/officeDocument/2006/relationships/image" Target="../media/image-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abyyworld.github.io/weather-for-fish/" TargetMode="External"/><Relationship Id="rId2" Type="http://schemas.openxmlformats.org/officeDocument/2006/relationships/hyperlink" Target="https://github.com/abyyworld/weather-for-fish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ish" descr="tr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685800"/>
            <a:ext cx="3657600" cy="25603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3375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AF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Weather for Fish</a:t>
            </a:r>
            <a:endParaRPr lang="en-US" sz="5600" dirty="0"/>
          </a:p>
        </p:txBody>
      </p:sp>
      <p:sp>
        <p:nvSpPr>
          <p:cNvPr id="5" name="tagline"/>
          <p:cNvSpPr txBox="1"/>
          <p:nvPr/>
        </p:nvSpPr>
        <p:spPr>
          <a:xfrm>
            <a:off x="822960" y="44805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audience: fish. Smartphone adoption among target audience: </a:t>
            </a:r>
            <a:pPr algn="ctr" indent="0" marL="0">
              <a:buNone/>
            </a:pPr>
            <a:r>
              <a:rPr lang="en-US" sz="2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pPr algn="ctr" indent="0" marL="0">
              <a:buNone/>
            </a:pPr>
            <a:r>
              <a:rPr lang="en-US" sz="2200" b="1" dirty="0">
                <a:solidFill>
                  <a:srgbClr val="B9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8732520" y="1234440"/>
            <a:ext cx="2926080" cy="4160520"/>
          </a:xfrm>
          <a:prstGeom prst="roundRect">
            <a:avLst>
              <a:gd name="adj" fmla="val 6250"/>
            </a:avLst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QR code linking to abyyworld.github.io/weather-for-fish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463040"/>
            <a:ext cx="2468880" cy="24688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82396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2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Scan to try it</a:t>
            </a:r>
            <a:endParaRPr lang="en-US" sz="2200" dirty="0"/>
          </a:p>
        </p:txBody>
      </p:sp>
      <p:sp>
        <p:nvSpPr>
          <p:cNvPr id="9" name="Text 4"/>
          <p:cNvSpPr txBox="1"/>
          <p:nvPr/>
        </p:nvSpPr>
        <p:spPr>
          <a:xfrm>
            <a:off x="882396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phone or laptop, right now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8823960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1D5D8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abyyworld.github.io/weather-for-fish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AF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weather app has the same bug</a:t>
            </a:r>
            <a:endParaRPr lang="en-US" sz="4000" dirty="0"/>
          </a:p>
        </p:txBody>
      </p:sp>
      <p:sp>
        <p:nvSpPr>
          <p:cNvPr id="5" name="lungs"/>
          <p:cNvSpPr txBox="1"/>
          <p:nvPr/>
        </p:nvSpPr>
        <p:spPr>
          <a:xfrm>
            <a:off x="731520" y="17830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 assumes you have lungs.</a:t>
            </a:r>
            <a:endParaRPr lang="en-US" sz="3200" dirty="0"/>
          </a:p>
        </p:txBody>
      </p:sp>
      <p:sp>
        <p:nvSpPr>
          <p:cNvPr id="6" name="q0"/>
          <p:cNvSpPr/>
          <p:nvPr/>
        </p:nvSpPr>
        <p:spPr>
          <a:xfrm>
            <a:off x="731520" y="2697480"/>
            <a:ext cx="1993392" cy="2148840"/>
          </a:xfrm>
          <a:prstGeom prst="roundRect">
            <a:avLst>
              <a:gd name="adj" fmla="val 6881"/>
            </a:avLst>
          </a:prstGeom>
          <a:solidFill>
            <a:srgbClr val="0B3A5C"/>
          </a:solidFill>
          <a:ln w="19050">
            <a:solidFill>
              <a:srgbClr val="1D5D86"/>
            </a:solidFill>
            <a:prstDash val="solid"/>
          </a:ln>
        </p:spPr>
      </p:sp>
      <p:sp>
        <p:nvSpPr>
          <p:cNvPr id="7" name="qc0"/>
          <p:cNvSpPr/>
          <p:nvPr/>
        </p:nvSpPr>
        <p:spPr>
          <a:xfrm>
            <a:off x="960120" y="2880360"/>
            <a:ext cx="868680" cy="868680"/>
          </a:xfrm>
          <a:prstGeom prst="ellipse">
            <a:avLst/>
          </a:prstGeom>
          <a:solidFill>
            <a:srgbClr val="06223A"/>
          </a:solidFill>
          <a:ln w="12700">
            <a:solidFill>
              <a:srgbClr val="06223A"/>
            </a:solidFill>
            <a:prstDash val="solid"/>
          </a:ln>
        </p:spPr>
      </p:sp>
      <p:pic>
        <p:nvPicPr>
          <p:cNvPr id="8" name="qi0" descr="Can I breathe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017520"/>
            <a:ext cx="594360" cy="594360"/>
          </a:xfrm>
          <a:prstGeom prst="rect">
            <a:avLst/>
          </a:prstGeom>
        </p:spPr>
      </p:pic>
      <p:sp>
        <p:nvSpPr>
          <p:cNvPr id="9" name="qt0"/>
          <p:cNvSpPr txBox="1"/>
          <p:nvPr/>
        </p:nvSpPr>
        <p:spPr>
          <a:xfrm>
            <a:off x="960120" y="39319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breathe?</a:t>
            </a:r>
            <a:endParaRPr lang="en-US" sz="2000" dirty="0"/>
          </a:p>
        </p:txBody>
      </p:sp>
      <p:sp>
        <p:nvSpPr>
          <p:cNvPr id="10" name="q1"/>
          <p:cNvSpPr/>
          <p:nvPr/>
        </p:nvSpPr>
        <p:spPr>
          <a:xfrm>
            <a:off x="2907792" y="2697480"/>
            <a:ext cx="1993392" cy="2148840"/>
          </a:xfrm>
          <a:prstGeom prst="roundRect">
            <a:avLst>
              <a:gd name="adj" fmla="val 6881"/>
            </a:avLst>
          </a:prstGeom>
          <a:solidFill>
            <a:srgbClr val="0B3A5C"/>
          </a:solidFill>
          <a:ln w="19050">
            <a:solidFill>
              <a:srgbClr val="1D5D86"/>
            </a:solidFill>
            <a:prstDash val="solid"/>
          </a:ln>
        </p:spPr>
      </p:sp>
      <p:sp>
        <p:nvSpPr>
          <p:cNvPr id="11" name="qc1"/>
          <p:cNvSpPr/>
          <p:nvPr/>
        </p:nvSpPr>
        <p:spPr>
          <a:xfrm>
            <a:off x="3136392" y="2880360"/>
            <a:ext cx="868680" cy="868680"/>
          </a:xfrm>
          <a:prstGeom prst="ellipse">
            <a:avLst/>
          </a:prstGeom>
          <a:solidFill>
            <a:srgbClr val="06223A"/>
          </a:solidFill>
          <a:ln w="12700">
            <a:solidFill>
              <a:srgbClr val="06223A"/>
            </a:solidFill>
            <a:prstDash val="solid"/>
          </a:ln>
        </p:spPr>
      </p:sp>
      <p:pic>
        <p:nvPicPr>
          <p:cNvPr id="12" name="qi1" descr="Is it too hot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3017520"/>
            <a:ext cx="594360" cy="594360"/>
          </a:xfrm>
          <a:prstGeom prst="rect">
            <a:avLst/>
          </a:prstGeom>
        </p:spPr>
      </p:pic>
      <p:sp>
        <p:nvSpPr>
          <p:cNvPr id="13" name="qt1"/>
          <p:cNvSpPr txBox="1"/>
          <p:nvPr/>
        </p:nvSpPr>
        <p:spPr>
          <a:xfrm>
            <a:off x="3136392" y="39319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too hot?</a:t>
            </a:r>
            <a:endParaRPr lang="en-US" sz="2000" dirty="0"/>
          </a:p>
        </p:txBody>
      </p:sp>
      <p:sp>
        <p:nvSpPr>
          <p:cNvPr id="14" name="q2"/>
          <p:cNvSpPr/>
          <p:nvPr/>
        </p:nvSpPr>
        <p:spPr>
          <a:xfrm>
            <a:off x="5084064" y="2697480"/>
            <a:ext cx="1993392" cy="2148840"/>
          </a:xfrm>
          <a:prstGeom prst="roundRect">
            <a:avLst>
              <a:gd name="adj" fmla="val 6881"/>
            </a:avLst>
          </a:prstGeom>
          <a:solidFill>
            <a:srgbClr val="0B3A5C"/>
          </a:solidFill>
          <a:ln w="19050">
            <a:solidFill>
              <a:srgbClr val="1D5D86"/>
            </a:solidFill>
            <a:prstDash val="solid"/>
          </a:ln>
        </p:spPr>
      </p:sp>
      <p:sp>
        <p:nvSpPr>
          <p:cNvPr id="15" name="qc2"/>
          <p:cNvSpPr/>
          <p:nvPr/>
        </p:nvSpPr>
        <p:spPr>
          <a:xfrm>
            <a:off x="5312664" y="2880360"/>
            <a:ext cx="868680" cy="868680"/>
          </a:xfrm>
          <a:prstGeom prst="ellipse">
            <a:avLst/>
          </a:prstGeom>
          <a:solidFill>
            <a:srgbClr val="06223A"/>
          </a:solidFill>
          <a:ln w="12700">
            <a:solidFill>
              <a:srgbClr val="06223A"/>
            </a:solidFill>
            <a:prstDash val="solid"/>
          </a:ln>
        </p:spPr>
      </p:sp>
      <p:pic>
        <p:nvPicPr>
          <p:cNvPr id="16" name="qi2" descr="What’s hunting me?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3017520"/>
            <a:ext cx="594360" cy="594360"/>
          </a:xfrm>
          <a:prstGeom prst="rect">
            <a:avLst/>
          </a:prstGeom>
        </p:spPr>
      </p:pic>
      <p:sp>
        <p:nvSpPr>
          <p:cNvPr id="17" name="qt2"/>
          <p:cNvSpPr txBox="1"/>
          <p:nvPr/>
        </p:nvSpPr>
        <p:spPr>
          <a:xfrm>
            <a:off x="5312664" y="39319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hunting me?</a:t>
            </a:r>
            <a:endParaRPr lang="en-US" sz="2000" dirty="0"/>
          </a:p>
        </p:txBody>
      </p:sp>
      <p:sp>
        <p:nvSpPr>
          <p:cNvPr id="18" name="q3"/>
          <p:cNvSpPr/>
          <p:nvPr/>
        </p:nvSpPr>
        <p:spPr>
          <a:xfrm>
            <a:off x="7260336" y="2697480"/>
            <a:ext cx="1993392" cy="2148840"/>
          </a:xfrm>
          <a:prstGeom prst="roundRect">
            <a:avLst>
              <a:gd name="adj" fmla="val 6881"/>
            </a:avLst>
          </a:prstGeom>
          <a:solidFill>
            <a:srgbClr val="0B3A5C"/>
          </a:solidFill>
          <a:ln w="19050">
            <a:solidFill>
              <a:srgbClr val="1D5D86"/>
            </a:solidFill>
            <a:prstDash val="solid"/>
          </a:ln>
        </p:spPr>
      </p:sp>
      <p:sp>
        <p:nvSpPr>
          <p:cNvPr id="19" name="qc3"/>
          <p:cNvSpPr/>
          <p:nvPr/>
        </p:nvSpPr>
        <p:spPr>
          <a:xfrm>
            <a:off x="7488936" y="2880360"/>
            <a:ext cx="868680" cy="868680"/>
          </a:xfrm>
          <a:prstGeom prst="ellipse">
            <a:avLst/>
          </a:prstGeom>
          <a:solidFill>
            <a:srgbClr val="06223A"/>
          </a:solidFill>
          <a:ln w="12700">
            <a:solidFill>
              <a:srgbClr val="06223A"/>
            </a:solidFill>
            <a:prstDash val="solid"/>
          </a:ln>
        </p:spPr>
      </p:sp>
      <p:pic>
        <p:nvPicPr>
          <p:cNvPr id="20" name="qi3" descr="Are the humans coming?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3017520"/>
            <a:ext cx="594360" cy="594360"/>
          </a:xfrm>
          <a:prstGeom prst="rect">
            <a:avLst/>
          </a:prstGeom>
        </p:spPr>
      </p:pic>
      <p:sp>
        <p:nvSpPr>
          <p:cNvPr id="21" name="qt3"/>
          <p:cNvSpPr txBox="1"/>
          <p:nvPr/>
        </p:nvSpPr>
        <p:spPr>
          <a:xfrm>
            <a:off x="7488936" y="39319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humans coming?</a:t>
            </a:r>
            <a:endParaRPr lang="en-US" sz="2000" dirty="0"/>
          </a:p>
        </p:txBody>
      </p:sp>
      <p:sp>
        <p:nvSpPr>
          <p:cNvPr id="22" name="q4"/>
          <p:cNvSpPr/>
          <p:nvPr/>
        </p:nvSpPr>
        <p:spPr>
          <a:xfrm>
            <a:off x="9436608" y="2697480"/>
            <a:ext cx="1993392" cy="2148840"/>
          </a:xfrm>
          <a:prstGeom prst="roundRect">
            <a:avLst>
              <a:gd name="adj" fmla="val 6881"/>
            </a:avLst>
          </a:prstGeom>
          <a:solidFill>
            <a:srgbClr val="0B3A5C"/>
          </a:solidFill>
          <a:ln w="19050">
            <a:solidFill>
              <a:srgbClr val="1D5D86"/>
            </a:solidFill>
            <a:prstDash val="solid"/>
          </a:ln>
        </p:spPr>
      </p:sp>
      <p:sp>
        <p:nvSpPr>
          <p:cNvPr id="23" name="qc4"/>
          <p:cNvSpPr/>
          <p:nvPr/>
        </p:nvSpPr>
        <p:spPr>
          <a:xfrm>
            <a:off x="9665208" y="2880360"/>
            <a:ext cx="868680" cy="868680"/>
          </a:xfrm>
          <a:prstGeom prst="ellipse">
            <a:avLst/>
          </a:prstGeom>
          <a:solidFill>
            <a:srgbClr val="06223A"/>
          </a:solidFill>
          <a:ln w="12700">
            <a:solidFill>
              <a:srgbClr val="06223A"/>
            </a:solidFill>
            <a:prstDash val="solid"/>
          </a:ln>
        </p:spPr>
      </p:sp>
      <p:pic>
        <p:nvPicPr>
          <p:cNvPr id="24" name="qi4" descr="Is there food?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3017520"/>
            <a:ext cx="594360" cy="594360"/>
          </a:xfrm>
          <a:prstGeom prst="rect">
            <a:avLst/>
          </a:prstGeom>
        </p:spPr>
      </p:pic>
      <p:sp>
        <p:nvSpPr>
          <p:cNvPr id="25" name="qt4"/>
          <p:cNvSpPr txBox="1"/>
          <p:nvPr/>
        </p:nvSpPr>
        <p:spPr>
          <a:xfrm>
            <a:off x="9665208" y="39319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food?</a:t>
            </a:r>
            <a:endParaRPr lang="en-US" sz="2000" dirty="0"/>
          </a:p>
        </p:txBody>
      </p:sp>
      <p:sp>
        <p:nvSpPr>
          <p:cNvPr id="26" name="wet"/>
          <p:cNvSpPr txBox="1"/>
          <p:nvPr/>
        </p:nvSpPr>
        <p:spPr>
          <a:xfrm>
            <a:off x="731520" y="52578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9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“Will it rain?” </a:t>
            </a:r>
            <a:pPr indent="0" marL="0">
              <a:buNone/>
            </a:pPr>
            <a:r>
              <a:rPr lang="en-US" sz="2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Mate. I’m already wet.</a:t>
            </a:r>
            <a:endParaRPr lang="en-US" sz="28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F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from the reef </a:t>
            </a:r>
            <a:pPr algn="ctr" indent="0" marL="0">
              <a:buNone/>
            </a:pPr>
            <a:r>
              <a:rPr lang="en-US" sz="3000" b="1" dirty="0">
                <a:solidFill>
                  <a:srgbClr val="FFB3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(well, Monterey Bay)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</a:t>
            </a:r>
            <a:pPr algn="ctr" indent="0" marL="0">
              <a:buNone/>
            </a:pPr>
            <a:r>
              <a:rPr lang="en-US" sz="1400" b="1" u="sng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abyyworld.github.io/weather-for-fish</a:t>
            </a:r>
            <a:pPr algn="ctr" indent="0" marL="0">
              <a:buNone/>
            </a:pPr>
            <a:r>
              <a:rPr lang="en-US" sz="1400" b="1" dirty="0">
                <a:solidFill>
                  <a:srgbClr val="8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Code: </a:t>
            </a:r>
            <a:pPr algn="ctr" indent="0" marL="0">
              <a:buNone/>
            </a:pPr>
            <a:r>
              <a:rPr lang="en-US" sz="1400" b="1" u="sng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github.com/abyyworld/weather-for-fish</a:t>
            </a:r>
            <a:endParaRPr lang="en-US" sz="1400" dirty="0"/>
          </a:p>
        </p:txBody>
      </p:sp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81328" y="960120"/>
            <a:ext cx="9235440" cy="519493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3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BREATHE?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9601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AF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worst time to be a fish is 5 a.m.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6517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Algae make oxygen all day and breathe it all night. We model it hour by hour, so you know when to gasp.</a:t>
            </a:r>
            <a:endParaRPr lang="en-US" sz="1800" dirty="0"/>
          </a:p>
        </p:txBody>
      </p:sp>
      <p:sp>
        <p:nvSpPr>
          <p:cNvPr id="6" name="formulaBox"/>
          <p:cNvSpPr/>
          <p:nvPr/>
        </p:nvSpPr>
        <p:spPr>
          <a:xfrm>
            <a:off x="731520" y="4069080"/>
            <a:ext cx="4846320" cy="685800"/>
          </a:xfrm>
          <a:prstGeom prst="roundRect">
            <a:avLst>
              <a:gd name="adj" fmla="val 16000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formula"/>
          <p:cNvSpPr txBox="1"/>
          <p:nvPr/>
        </p:nvSpPr>
        <p:spPr>
          <a:xfrm>
            <a:off x="868680" y="4206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= 14.652 − 0.41022T + 0.007991T² − 0.000077774T³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Odum (1956) · Cole &amp; Caraco (1998) · θ = 1.047</a:t>
            </a:r>
            <a:endParaRPr lang="en-US" sz="1200" dirty="0"/>
          </a:p>
        </p:txBody>
      </p:sp>
      <p:pic>
        <p:nvPicPr>
          <p:cNvPr id="9" name="shot" descr="/tmp/claude-0/-home-user-weather-for-fish/dc1fae49-e832-5158-9bed-c7aa309397fd/scratchpad/deckshots/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63040"/>
            <a:ext cx="5577840" cy="3085004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user-weather-for-fish/dc1fae49-e832-5158-9bed-c7aa309397fd/scratchpad/deckshots/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85800"/>
            <a:ext cx="5303520" cy="54766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HUNTING ME?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6217920" y="9601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AF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 predators, real distance, real bearing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6217920" y="23317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iNaturalist sightings within 25 km. Tap a blip and it explains itself:</a:t>
            </a:r>
            <a:endParaRPr lang="en-US" sz="1800" dirty="0"/>
          </a:p>
        </p:txBody>
      </p:sp>
      <p:sp>
        <p:nvSpPr>
          <p:cNvPr id="7" name="pq0"/>
          <p:cNvSpPr/>
          <p:nvPr/>
        </p:nvSpPr>
        <p:spPr>
          <a:xfrm>
            <a:off x="6217920" y="315468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0B3A5C"/>
          </a:solidFill>
          <a:ln w="12700">
            <a:solidFill>
              <a:srgbClr val="0B3A5C"/>
            </a:solidFill>
            <a:prstDash val="solid"/>
          </a:ln>
        </p:spPr>
      </p:sp>
      <p:sp>
        <p:nvSpPr>
          <p:cNvPr id="8" name="pt0"/>
          <p:cNvSpPr txBox="1"/>
          <p:nvPr/>
        </p:nvSpPr>
        <p:spPr>
          <a:xfrm>
            <a:off x="6400800" y="32918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Heron: stands perfectly still for 20 minutes. </a:t>
            </a:r>
            <a:pPr indent="0" marL="0">
              <a:buNone/>
            </a:pPr>
            <a:r>
              <a:rPr lang="en-US" sz="17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trust the statue.</a:t>
            </a:r>
            <a:endParaRPr lang="en-US" sz="1700" dirty="0"/>
          </a:p>
        </p:txBody>
      </p:sp>
      <p:sp>
        <p:nvSpPr>
          <p:cNvPr id="9" name="pq1"/>
          <p:cNvSpPr/>
          <p:nvPr/>
        </p:nvSpPr>
        <p:spPr>
          <a:xfrm>
            <a:off x="6217920" y="416052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0B3A5C"/>
          </a:solidFill>
          <a:ln w="12700">
            <a:solidFill>
              <a:srgbClr val="0B3A5C"/>
            </a:solidFill>
            <a:prstDash val="solid"/>
          </a:ln>
        </p:spPr>
      </p:sp>
      <p:sp>
        <p:nvSpPr>
          <p:cNvPr id="10" name="pt1"/>
          <p:cNvSpPr txBox="1"/>
          <p:nvPr/>
        </p:nvSpPr>
        <p:spPr>
          <a:xfrm>
            <a:off x="6400800" y="429768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Pelican: the pouch holds 11 litres. </a:t>
            </a:r>
            <a:pPr indent="0" marL="0">
              <a:buNone/>
            </a:pPr>
            <a:r>
              <a:rPr lang="en-US" sz="17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fit. Your family fits.</a:t>
            </a:r>
            <a:endParaRPr lang="en-US" sz="1700" dirty="0"/>
          </a:p>
        </p:txBody>
      </p:sp>
      <p:sp>
        <p:nvSpPr>
          <p:cNvPr id="11" name="pq2"/>
          <p:cNvSpPr/>
          <p:nvPr/>
        </p:nvSpPr>
        <p:spPr>
          <a:xfrm>
            <a:off x="6217920" y="516636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0B3A5C"/>
          </a:solidFill>
          <a:ln w="12700">
            <a:solidFill>
              <a:srgbClr val="0B3A5C"/>
            </a:solidFill>
            <a:prstDash val="solid"/>
          </a:ln>
        </p:spPr>
      </p:sp>
      <p:sp>
        <p:nvSpPr>
          <p:cNvPr id="12" name="pt2"/>
          <p:cNvSpPr txBox="1"/>
          <p:nvPr/>
        </p:nvSpPr>
        <p:spPr>
          <a:xfrm>
            <a:off x="6400800" y="53035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Shark: </a:t>
            </a:r>
            <a:pPr indent="0" marL="0">
              <a:buNone/>
            </a:pPr>
            <a:r>
              <a:rPr lang="en-US" sz="17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than trees. Act natural.</a:t>
            </a:r>
            <a:endParaRPr lang="en-US" sz="17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HUMANS COMING?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9601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F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Anglers believe fish bite when the barometer falls</a:t>
            </a:r>
            <a:endParaRPr lang="en-US" sz="3400" dirty="0"/>
          </a:p>
        </p:txBody>
      </p:sp>
      <p:sp>
        <p:nvSpPr>
          <p:cNvPr id="5" name="punch"/>
          <p:cNvSpPr txBox="1"/>
          <p:nvPr/>
        </p:nvSpPr>
        <p:spPr>
          <a:xfrm>
            <a:off x="731520" y="24688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that’s when the anglers turn up. We forecast the forecasters.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5661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Danger = Saturday × dawn × calm × dry × pleasant × falling pressure. Carp mode remembers that carp anglers camp overnight with bite alarms.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8006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Index: rain washes worms in, mayflies hatch at dusk, the moon does the rest.</a:t>
            </a:r>
            <a:endParaRPr lang="en-US" sz="1800" dirty="0"/>
          </a:p>
        </p:txBody>
      </p:sp>
      <p:pic>
        <p:nvPicPr>
          <p:cNvPr id="8" name="Image 0" descr="/tmp/claude-0/-home-user-weather-for-fish/dc1fae49-e832-5158-9bed-c7aa309397fd/scratchpad/deckshots/h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737360"/>
            <a:ext cx="3566160" cy="2616679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wsShot" descr="/tmp/claude-0/-home-user-weather-for-fish/dc1fae49-e832-5158-9bed-c7aa309397fd/scratchpad/deckshots/news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417320"/>
            <a:ext cx="6035040" cy="37719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NEWS, CHANNEL 0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960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AF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Finn Gillespie reads you the news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26517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first: salt water, oxygen, predators, fishermen, heat. Otherwise: “Conditions are great, go be a fish.”</a:t>
            </a:r>
            <a:endParaRPr lang="en-US" sz="1800" dirty="0"/>
          </a:p>
        </p:txBody>
      </p:sp>
      <p:sp>
        <p:nvSpPr>
          <p:cNvPr id="7" name="blub"/>
          <p:cNvSpPr txBox="1"/>
          <p:nvPr/>
        </p:nvSpPr>
        <p:spPr>
          <a:xfrm>
            <a:off x="731520" y="4297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broadcast ends with “Blub.”</a:t>
            </a:r>
            <a:endParaRPr lang="en-US" sz="2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A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C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ESOTERIC PART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9144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B2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Solunar Tables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6B5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John Alden Knight, 1926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5146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 feed when the moon is directly overhead or underfoot, and again at moonrise and moonset. We compute every period from the moon’s true position, to the minute.</a:t>
            </a:r>
            <a:endParaRPr lang="en-US" sz="1800" dirty="0"/>
          </a:p>
        </p:txBody>
      </p:sp>
      <p:sp>
        <p:nvSpPr>
          <p:cNvPr id="7" name="peer"/>
          <p:cNvSpPr txBox="1"/>
          <p:nvPr/>
        </p:nvSpPr>
        <p:spPr>
          <a:xfrm>
            <a:off x="731520" y="4389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B5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Presented with total seriousness. Peer review pending since 1926.</a:t>
            </a:r>
            <a:endParaRPr lang="en-US" sz="1800" dirty="0"/>
          </a:p>
        </p:txBody>
      </p:sp>
      <p:pic>
        <p:nvPicPr>
          <p:cNvPr id="8" name="Image 0" descr="/tmp/claude-0/-home-user-weather-for-fish/dc1fae49-e832-5158-9bed-c7aa309397fd/scratchpad/deckshots/solun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371600"/>
            <a:ext cx="5486400" cy="283714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2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RADIO 4 · LONG WAVE 198 kHz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0058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5C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“And now the Shipping Forecast, issued by the Fish Office on behalf of the Maritime and </a:t>
            </a:r>
            <a:pPr indent="0" marL="0">
              <a:buNone/>
            </a:pPr>
            <a:r>
              <a:rPr lang="en-US" sz="1800" b="1" i="1" dirty="0">
                <a:solidFill>
                  <a:srgbClr val="E5C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Codguard</a:t>
            </a:r>
            <a:pPr indent="0" marL="0">
              <a:buNone/>
            </a:pPr>
            <a:r>
              <a:rPr lang="en-US" sz="1800" i="1" dirty="0">
                <a:solidFill>
                  <a:srgbClr val="E5C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Agency…”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300" kern="0" dirty="0">
                <a:solidFill>
                  <a:srgbClr val="F6E7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MONTEREY BAY.</a:t>
            </a:r>
            <a:endParaRPr lang="en-US" sz="3600" dirty="0"/>
          </a:p>
        </p:txBody>
      </p:sp>
      <p:sp>
        <p:nvSpPr>
          <p:cNvPr id="6" name="sf1"/>
          <p:cNvSpPr txBox="1"/>
          <p:nvPr/>
        </p:nvSpPr>
        <p:spPr>
          <a:xfrm>
            <a:off x="731520" y="27889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6E7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Northwest 3 or 4. Moderate. Fair. Good.</a:t>
            </a:r>
            <a:endParaRPr lang="en-US" sz="2400" dirty="0"/>
          </a:p>
        </p:txBody>
      </p:sp>
      <p:sp>
        <p:nvSpPr>
          <p:cNvPr id="7" name="sf2"/>
          <p:cNvSpPr txBox="1"/>
          <p:nvPr/>
        </p:nvSpPr>
        <p:spPr>
          <a:xfrm>
            <a:off x="731520" y="33832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B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Predators: cormorant, occasionally sea lion.</a:t>
            </a:r>
            <a:endParaRPr lang="en-US" sz="2400" dirty="0"/>
          </a:p>
        </p:txBody>
      </p:sp>
      <p:sp>
        <p:nvSpPr>
          <p:cNvPr id="8" name="sf3"/>
          <p:cNvSpPr txBox="1"/>
          <p:nvPr/>
        </p:nvSpPr>
        <p:spPr>
          <a:xfrm>
            <a:off x="731520" y="39776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6E7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Humans: scattered, mainly elsewhere.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937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Beaufort force, WMO sea state and official visibility terms. Preceded by the six Greenwich pips.</a:t>
            </a:r>
            <a:endParaRPr lang="en-US" sz="1400" dirty="0"/>
          </a:p>
        </p:txBody>
      </p:sp>
      <p:sp>
        <p:nvSpPr>
          <p:cNvPr id="10" name="oracleBox"/>
          <p:cNvSpPr/>
          <p:nvPr/>
        </p:nvSpPr>
        <p:spPr>
          <a:xfrm>
            <a:off x="7863840" y="1005840"/>
            <a:ext cx="3657600" cy="2377440"/>
          </a:xfrm>
          <a:prstGeom prst="roundRect">
            <a:avLst>
              <a:gd name="adj" fmla="val 5769"/>
            </a:avLst>
          </a:prstGeom>
          <a:solidFill>
            <a:srgbClr val="2A1650"/>
          </a:solidFill>
          <a:ln w="12700">
            <a:solidFill>
              <a:srgbClr val="2A1650"/>
            </a:solidFill>
            <a:prstDash val="solid"/>
          </a:ln>
        </p:spPr>
      </p:sp>
      <p:sp>
        <p:nvSpPr>
          <p:cNvPr id="11" name="oracleT"/>
          <p:cNvSpPr txBox="1"/>
          <p:nvPr/>
        </p:nvSpPr>
        <p:spPr>
          <a:xfrm>
            <a:off x="809244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Ichthyomancy</a:t>
            </a:r>
            <a:endParaRPr lang="en-US" sz="2000" dirty="0"/>
          </a:p>
        </p:txBody>
      </p:sp>
      <p:sp>
        <p:nvSpPr>
          <p:cNvPr id="12" name="oracleB"/>
          <p:cNvSpPr txBox="1"/>
          <p:nvPr/>
        </p:nvSpPr>
        <p:spPr>
          <a:xfrm>
            <a:off x="8092440" y="169164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FE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moon’s real zodiac sign. Moon in Capricorn: “a sea-goat, literally half fish. A big day for your people.”</a:t>
            </a:r>
            <a:endParaRPr lang="en-US" sz="1600" dirty="0"/>
          </a:p>
        </p:txBody>
      </p:sp>
      <p:sp>
        <p:nvSpPr>
          <p:cNvPr id="13" name="folkBox"/>
          <p:cNvSpPr/>
          <p:nvPr/>
        </p:nvSpPr>
        <p:spPr>
          <a:xfrm>
            <a:off x="7863840" y="3657600"/>
            <a:ext cx="3657600" cy="2103120"/>
          </a:xfrm>
          <a:prstGeom prst="roundRect">
            <a:avLst>
              <a:gd name="adj" fmla="val 6522"/>
            </a:avLst>
          </a:prstGeom>
          <a:solidFill>
            <a:srgbClr val="F4EAD2"/>
          </a:solidFill>
          <a:ln w="12700">
            <a:solidFill>
              <a:srgbClr val="F4EAD2"/>
            </a:solidFill>
            <a:prstDash val="solid"/>
          </a:ln>
        </p:spPr>
      </p:sp>
      <p:sp>
        <p:nvSpPr>
          <p:cNvPr id="14" name="folkT"/>
          <p:cNvSpPr txBox="1"/>
          <p:nvPr/>
        </p:nvSpPr>
        <p:spPr>
          <a:xfrm>
            <a:off x="809244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C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Angler’s folklore</a:t>
            </a:r>
            <a:endParaRPr lang="en-US" sz="2000" dirty="0"/>
          </a:p>
        </p:txBody>
      </p:sp>
      <p:sp>
        <p:nvSpPr>
          <p:cNvPr id="15" name="folkB"/>
          <p:cNvSpPr txBox="1"/>
          <p:nvPr/>
        </p:nvSpPr>
        <p:spPr>
          <a:xfrm>
            <a:off x="8092440" y="43434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2B2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“When the wind is in the west, then the fishes bite the best.” Checked against today’s real wind.</a:t>
            </a:r>
            <a:endParaRPr lang="en-US" sz="16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FINS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AF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 science. Unreal audience.</a:t>
            </a:r>
            <a:endParaRPr lang="en-US" sz="4000" dirty="0"/>
          </a:p>
        </p:txBody>
      </p:sp>
      <p:sp>
        <p:nvSpPr>
          <p:cNvPr id="5" name="sb0"/>
          <p:cNvSpPr/>
          <p:nvPr/>
        </p:nvSpPr>
        <p:spPr>
          <a:xfrm>
            <a:off x="731520" y="2011680"/>
            <a:ext cx="2532888" cy="2286000"/>
          </a:xfrm>
          <a:prstGeom prst="roundRect">
            <a:avLst>
              <a:gd name="adj" fmla="val 6000"/>
            </a:avLst>
          </a:prstGeom>
          <a:solidFill>
            <a:srgbClr val="0B3A5C"/>
          </a:solidFill>
          <a:ln w="12700">
            <a:solidFill>
              <a:srgbClr val="0B3A5C"/>
            </a:solidFill>
            <a:prstDash val="solid"/>
          </a:ln>
        </p:spPr>
      </p:sp>
      <p:sp>
        <p:nvSpPr>
          <p:cNvPr id="6" name="sn0"/>
          <p:cNvSpPr txBox="1"/>
          <p:nvPr/>
        </p:nvSpPr>
        <p:spPr>
          <a:xfrm>
            <a:off x="1005840" y="21945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5EEAD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6000" dirty="0"/>
          </a:p>
        </p:txBody>
      </p:sp>
      <p:sp>
        <p:nvSpPr>
          <p:cNvPr id="7" name="sl0"/>
          <p:cNvSpPr txBox="1"/>
          <p:nvPr/>
        </p:nvSpPr>
        <p:spPr>
          <a:xfrm>
            <a:off x="1005840" y="32461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</a:t>
            </a:r>
            <a:endParaRPr lang="en-US" sz="1700" dirty="0"/>
          </a:p>
        </p:txBody>
      </p:sp>
      <p:sp>
        <p:nvSpPr>
          <p:cNvPr id="8" name="sb1"/>
          <p:cNvSpPr/>
          <p:nvPr/>
        </p:nvSpPr>
        <p:spPr>
          <a:xfrm>
            <a:off x="3447288" y="2011680"/>
            <a:ext cx="2532888" cy="2286000"/>
          </a:xfrm>
          <a:prstGeom prst="roundRect">
            <a:avLst>
              <a:gd name="adj" fmla="val 6000"/>
            </a:avLst>
          </a:prstGeom>
          <a:solidFill>
            <a:srgbClr val="0B3A5C"/>
          </a:solidFill>
          <a:ln w="12700">
            <a:solidFill>
              <a:srgbClr val="0B3A5C"/>
            </a:solidFill>
            <a:prstDash val="solid"/>
          </a:ln>
        </p:spPr>
      </p:sp>
      <p:sp>
        <p:nvSpPr>
          <p:cNvPr id="9" name="sn1"/>
          <p:cNvSpPr txBox="1"/>
          <p:nvPr/>
        </p:nvSpPr>
        <p:spPr>
          <a:xfrm>
            <a:off x="3721608" y="21945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5EEAD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6000" dirty="0"/>
          </a:p>
        </p:txBody>
      </p:sp>
      <p:sp>
        <p:nvSpPr>
          <p:cNvPr id="10" name="sl1"/>
          <p:cNvSpPr txBox="1"/>
          <p:nvPr/>
        </p:nvSpPr>
        <p:spPr>
          <a:xfrm>
            <a:off x="3721608" y="32461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steps: double-click and swim</a:t>
            </a:r>
            <a:endParaRPr lang="en-US" sz="1700" dirty="0"/>
          </a:p>
        </p:txBody>
      </p:sp>
      <p:sp>
        <p:nvSpPr>
          <p:cNvPr id="11" name="sb2"/>
          <p:cNvSpPr/>
          <p:nvPr/>
        </p:nvSpPr>
        <p:spPr>
          <a:xfrm>
            <a:off x="6163056" y="2011680"/>
            <a:ext cx="2532888" cy="2286000"/>
          </a:xfrm>
          <a:prstGeom prst="roundRect">
            <a:avLst>
              <a:gd name="adj" fmla="val 6000"/>
            </a:avLst>
          </a:prstGeom>
          <a:solidFill>
            <a:srgbClr val="0B3A5C"/>
          </a:solidFill>
          <a:ln w="12700">
            <a:solidFill>
              <a:srgbClr val="0B3A5C"/>
            </a:solidFill>
            <a:prstDash val="solid"/>
          </a:ln>
        </p:spPr>
      </p:sp>
      <p:sp>
        <p:nvSpPr>
          <p:cNvPr id="12" name="sn2"/>
          <p:cNvSpPr txBox="1"/>
          <p:nvPr/>
        </p:nvSpPr>
        <p:spPr>
          <a:xfrm>
            <a:off x="6437376" y="21945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5EEAD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</a:t>
            </a:r>
            <a:endParaRPr lang="en-US" sz="6000" dirty="0"/>
          </a:p>
        </p:txBody>
      </p:sp>
      <p:sp>
        <p:nvSpPr>
          <p:cNvPr id="13" name="sl2"/>
          <p:cNvSpPr txBox="1"/>
          <p:nvPr/>
        </p:nvSpPr>
        <p:spPr>
          <a:xfrm>
            <a:off x="6437376" y="32461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on pure forecast maths</a:t>
            </a:r>
            <a:endParaRPr lang="en-US" sz="1700" dirty="0"/>
          </a:p>
        </p:txBody>
      </p:sp>
      <p:sp>
        <p:nvSpPr>
          <p:cNvPr id="14" name="sb3"/>
          <p:cNvSpPr/>
          <p:nvPr/>
        </p:nvSpPr>
        <p:spPr>
          <a:xfrm>
            <a:off x="8878824" y="2011680"/>
            <a:ext cx="2532888" cy="2286000"/>
          </a:xfrm>
          <a:prstGeom prst="roundRect">
            <a:avLst>
              <a:gd name="adj" fmla="val 6000"/>
            </a:avLst>
          </a:prstGeom>
          <a:solidFill>
            <a:srgbClr val="0B3A5C"/>
          </a:solidFill>
          <a:ln w="12700">
            <a:solidFill>
              <a:srgbClr val="0B3A5C"/>
            </a:solidFill>
            <a:prstDash val="solid"/>
          </a:ln>
        </p:spPr>
      </p:sp>
      <p:sp>
        <p:nvSpPr>
          <p:cNvPr id="15" name="sn3"/>
          <p:cNvSpPr txBox="1"/>
          <p:nvPr/>
        </p:nvSpPr>
        <p:spPr>
          <a:xfrm>
            <a:off x="9153144" y="21945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B3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6000" dirty="0"/>
          </a:p>
        </p:txBody>
      </p:sp>
      <p:sp>
        <p:nvSpPr>
          <p:cNvPr id="16" name="sl3"/>
          <p:cNvSpPr txBox="1"/>
          <p:nvPr/>
        </p:nvSpPr>
        <p:spPr>
          <a:xfrm>
            <a:off x="9153144" y="32461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standing on the antenna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4617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 and JavaScript. Live data from Open-Meteo and iNaturalist. Works offline. If an API dies, the rest keeps swimming: </a:t>
            </a:r>
            <a:pPr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“Radar offline: a heron is standing on the antenna.”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Odum 1956 · Cole &amp; Caraco 1998 · Wanninkhof 1992 · Haurwitz 1945 · Boyle’s law · Knight 1926</a:t>
            </a:r>
            <a:endParaRPr lang="en-US" sz="12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B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al"/>
          <p:cNvSpPr txBox="1"/>
          <p:nvPr/>
        </p:nvSpPr>
        <p:spPr>
          <a:xfrm>
            <a:off x="731520" y="118872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B17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number on screen is real.</a:t>
            </a:r>
            <a:endParaRPr lang="en-US" sz="5400" dirty="0"/>
          </a:p>
        </p:txBody>
      </p:sp>
      <p:sp>
        <p:nvSpPr>
          <p:cNvPr id="4" name="blub2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Blub.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4800600"/>
            <a:ext cx="10698480" cy="1143000"/>
          </a:xfrm>
          <a:prstGeom prst="roundRect">
            <a:avLst>
              <a:gd name="adj" fmla="val 9600"/>
            </a:avLst>
          </a:prstGeom>
          <a:solidFill>
            <a:srgbClr val="FFD08A"/>
          </a:solidFill>
          <a:ln w="12700">
            <a:solidFill>
              <a:srgbClr val="FFD0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4919472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B1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</a:t>
            </a:r>
            <a:pPr indent="0" marL="0">
              <a:spcAft>
                <a:spcPts val="400"/>
              </a:spcAft>
              <a:buNone/>
            </a:pPr>
            <a:r>
              <a:rPr lang="en-US" sz="2000" b="1" u="sng" dirty="0">
                <a:solidFill>
                  <a:srgbClr val="7A3A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Open the live ap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abyyworld.github.io/weather-for-fish</a:t>
            </a:r>
            <a:pPr indent="0" marL="0">
              <a:spcAft>
                <a:spcPts val="400"/>
              </a:spcAft>
              <a:buNone/>
            </a:pP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B1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Source code: </a:t>
            </a:r>
            <a:pPr indent="0" marL="0">
              <a:spcAft>
                <a:spcPts val="400"/>
              </a:spcAft>
              <a:buNone/>
            </a:pPr>
            <a:r>
              <a:rPr lang="en-US" sz="2000" b="1" u="sng" dirty="0">
                <a:solidFill>
                  <a:srgbClr val="7A3A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View the code on GitHu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github.com/abyyworld/weather-for-fish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61722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intended for use by fish.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for Fish</dc:title>
  <dc:subject>PptxGenJS Presentation</dc:subject>
  <dc:creator>PptxGenJS</dc:creator>
  <cp:lastModifiedBy>PptxGenJS</cp:lastModifiedBy>
  <cp:revision>1</cp:revision>
  <dcterms:created xsi:type="dcterms:W3CDTF">2026-10-28T19:37:44Z</dcterms:created>
  <dcterms:modified xsi:type="dcterms:W3CDTF">2026-10-28T19:37:44Z</dcterms:modified>
</cp:coreProperties>
</file>